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0" r:id="rId11"/>
  </p:sldIdLst>
  <p:sldSz cx="18288000" cy="10287000"/>
  <p:notesSz cx="6858000" cy="9144000"/>
  <p:embeddedFontLst>
    <p:embeddedFont>
      <p:font typeface="DM Sans" pitchFamily="2" charset="0"/>
      <p:regular r:id="rId12"/>
    </p:embeddedFont>
    <p:embeddedFont>
      <p:font typeface="DM Sans Bold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5308" y="7612069"/>
            <a:ext cx="18578615" cy="3026928"/>
          </a:xfrm>
          <a:prstGeom prst="rect">
            <a:avLst/>
          </a:prstGeom>
          <a:solidFill>
            <a:srgbClr val="5034C4"/>
          </a:solid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7299311" y="212499"/>
            <a:ext cx="2945223" cy="2945223"/>
          </a:xfrm>
          <a:custGeom>
            <a:avLst/>
            <a:gdLst/>
            <a:ahLst/>
            <a:cxnLst/>
            <a:rect l="l" t="t" r="r" b="b"/>
            <a:pathLst>
              <a:path w="2945223" h="2945223">
                <a:moveTo>
                  <a:pt x="0" y="0"/>
                </a:moveTo>
                <a:lnTo>
                  <a:pt x="2945223" y="0"/>
                </a:lnTo>
                <a:lnTo>
                  <a:pt x="2945223" y="2945223"/>
                </a:lnTo>
                <a:lnTo>
                  <a:pt x="0" y="2945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5321890" y="3157722"/>
            <a:ext cx="7372004" cy="444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3304">
                <a:solidFill>
                  <a:srgbClr val="5034C4"/>
                </a:solidFill>
                <a:latin typeface="DM Sans Bold"/>
              </a:rPr>
              <a:t>Università degli studi di Napoli Parthenope</a:t>
            </a:r>
          </a:p>
          <a:p>
            <a:pPr algn="ctr">
              <a:lnSpc>
                <a:spcPts val="3964"/>
              </a:lnSpc>
            </a:pPr>
            <a:endParaRPr lang="en-US" sz="3304">
              <a:solidFill>
                <a:srgbClr val="5034C4"/>
              </a:solidFill>
              <a:latin typeface="DM Sans Bold"/>
            </a:endParaRPr>
          </a:p>
          <a:p>
            <a:pPr algn="ctr">
              <a:lnSpc>
                <a:spcPts val="3964"/>
              </a:lnSpc>
            </a:pPr>
            <a:r>
              <a:rPr lang="en-US" sz="3304">
                <a:solidFill>
                  <a:srgbClr val="5034C4"/>
                </a:solidFill>
                <a:latin typeface="DM Sans Bold"/>
              </a:rPr>
              <a:t>Progetto Programmazione 3</a:t>
            </a:r>
          </a:p>
          <a:p>
            <a:pPr algn="ctr">
              <a:lnSpc>
                <a:spcPts val="3964"/>
              </a:lnSpc>
            </a:pPr>
            <a:endParaRPr lang="en-US" sz="3304">
              <a:solidFill>
                <a:srgbClr val="5034C4"/>
              </a:solidFill>
              <a:latin typeface="DM Sans Bold"/>
            </a:endParaRPr>
          </a:p>
          <a:p>
            <a:pPr algn="ctr">
              <a:lnSpc>
                <a:spcPts val="3964"/>
              </a:lnSpc>
            </a:pPr>
            <a:r>
              <a:rPr lang="en-US" sz="3304">
                <a:solidFill>
                  <a:srgbClr val="5034C4"/>
                </a:solidFill>
                <a:latin typeface="DM Sans Bold"/>
              </a:rPr>
              <a:t>A.A. 2023/2024</a:t>
            </a:r>
          </a:p>
          <a:p>
            <a:pPr algn="ctr">
              <a:lnSpc>
                <a:spcPts val="3964"/>
              </a:lnSpc>
            </a:pPr>
            <a:endParaRPr lang="en-US" sz="3304">
              <a:solidFill>
                <a:srgbClr val="5034C4"/>
              </a:solidFill>
              <a:latin typeface="DM Sans Bold"/>
            </a:endParaRPr>
          </a:p>
          <a:p>
            <a:pPr algn="ctr">
              <a:lnSpc>
                <a:spcPts val="3964"/>
              </a:lnSpc>
            </a:pPr>
            <a:r>
              <a:rPr lang="en-US" sz="3304">
                <a:solidFill>
                  <a:srgbClr val="5034C4"/>
                </a:solidFill>
                <a:latin typeface="DM Sans Bold"/>
              </a:rPr>
              <a:t>Guardia e Ladro 1</a:t>
            </a:r>
          </a:p>
          <a:p>
            <a:pPr algn="ctr">
              <a:lnSpc>
                <a:spcPts val="3964"/>
              </a:lnSpc>
            </a:pPr>
            <a:endParaRPr lang="en-US" sz="3304">
              <a:solidFill>
                <a:srgbClr val="5034C4"/>
              </a:solidFill>
              <a:latin typeface="DM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42841" y="8092328"/>
            <a:ext cx="10331132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M Sans Bold"/>
              </a:rPr>
              <a:t>Proponenti: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M Sans Bold"/>
              </a:rPr>
              <a:t>                                     Porritiello Francesco  0124002486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DM Sans Bold"/>
              </a:rPr>
              <a:t>                                    Esposito Francesco   0124002629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DM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1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67947" y="273684"/>
            <a:ext cx="2016125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DM Sans Bold"/>
              </a:rPr>
              <a:t>Traccia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1312" y="1211142"/>
            <a:ext cx="17925376" cy="782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endParaRPr/>
          </a:p>
          <a:p>
            <a:pPr algn="ctr">
              <a:lnSpc>
                <a:spcPts val="3267"/>
              </a:lnSpc>
            </a:pPr>
            <a:r>
              <a:rPr lang="en-US" sz="2334">
                <a:solidFill>
                  <a:srgbClr val="FFFFFF"/>
                </a:solidFill>
                <a:latin typeface="DM Sans Bold"/>
              </a:rPr>
              <a:t>Si vuole sviluppare un’applicazione per la simulazione di un gioco denominato guardia e ladro. Un utente (giocatore) si identifica tramite il nome e cognome. Si suppone di avere una stanza pavimentata a tasselli quadrati (caselle), dotata di pareti esterne ed interne. Nella stanza sono presenti una guardia e un ladro. Il giocatore deve permettere al ladro di uscire dalla stanza. Sia il ladro che la guardia si muovono di una casella alla volta tra le otto caselle vicine.</a:t>
            </a:r>
          </a:p>
          <a:p>
            <a:pPr algn="ctr">
              <a:lnSpc>
                <a:spcPts val="3267"/>
              </a:lnSpc>
            </a:pPr>
            <a:endParaRPr lang="en-US" sz="2334">
              <a:solidFill>
                <a:srgbClr val="FFFFFF"/>
              </a:solidFill>
              <a:latin typeface="DM Sans Bold"/>
            </a:endParaRPr>
          </a:p>
          <a:p>
            <a:pPr algn="ctr">
              <a:lnSpc>
                <a:spcPts val="3267"/>
              </a:lnSpc>
            </a:pPr>
            <a:r>
              <a:rPr lang="en-US" sz="2334">
                <a:solidFill>
                  <a:srgbClr val="FFFFFF"/>
                </a:solidFill>
                <a:latin typeface="DM Sans Bold"/>
              </a:rPr>
              <a:t>Devono essere previsti diversi scenari. Per ogni scenario le strategie con cui si muove la guardia sono (K è la probabilità):</a:t>
            </a:r>
          </a:p>
          <a:p>
            <a:pPr marL="503969" lvl="1" indent="-251984">
              <a:lnSpc>
                <a:spcPts val="3267"/>
              </a:lnSpc>
              <a:buFont typeface="Arial"/>
              <a:buChar char="•"/>
            </a:pPr>
            <a:r>
              <a:rPr lang="en-US" sz="2334">
                <a:solidFill>
                  <a:srgbClr val="FFFFFF"/>
                </a:solidFill>
                <a:latin typeface="DM Sans Bold"/>
              </a:rPr>
              <a:t>nel K% dei casi la guardia si muove a caso in una delle otto caselle vicine possibili (parete permettendo);</a:t>
            </a:r>
          </a:p>
          <a:p>
            <a:pPr marL="503969" lvl="1" indent="-251984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sz="2334">
                <a:solidFill>
                  <a:srgbClr val="FFFFFF"/>
                </a:solidFill>
                <a:latin typeface="DM Sans Bold"/>
              </a:rPr>
              <a:t>nel (100 − K)% dei casi la direzione della guardia viene calcolata usando l’algoritmo di ottimizzazione ant colony.</a:t>
            </a:r>
          </a:p>
          <a:p>
            <a:pPr algn="ctr">
              <a:lnSpc>
                <a:spcPts val="3267"/>
              </a:lnSpc>
              <a:spcBef>
                <a:spcPct val="0"/>
              </a:spcBef>
            </a:pPr>
            <a:endParaRPr lang="en-US" sz="2334">
              <a:solidFill>
                <a:srgbClr val="FFFFFF"/>
              </a:solidFill>
              <a:latin typeface="DM Sans Bold"/>
            </a:endParaRPr>
          </a:p>
          <a:p>
            <a:pPr algn="ctr">
              <a:lnSpc>
                <a:spcPts val="3267"/>
              </a:lnSpc>
              <a:spcBef>
                <a:spcPct val="0"/>
              </a:spcBef>
            </a:pPr>
            <a:r>
              <a:rPr lang="en-US" sz="2334">
                <a:solidFill>
                  <a:srgbClr val="FFFFFF"/>
                </a:solidFill>
                <a:latin typeface="DM Sans Bold"/>
              </a:rPr>
              <a:t>Inoltre, nella stanza ci sono oggetti di diversi colori a disposizione del ladro:</a:t>
            </a:r>
          </a:p>
          <a:p>
            <a:pPr marL="503969" lvl="1" indent="-251984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sz="2334">
                <a:solidFill>
                  <a:srgbClr val="7ED957"/>
                </a:solidFill>
                <a:latin typeface="DM Sans Bold"/>
              </a:rPr>
              <a:t>verde - la guardia va nella direzione opposta a quella del ladro per 10 secondi.</a:t>
            </a:r>
          </a:p>
          <a:p>
            <a:pPr marL="503969" lvl="1" indent="-251984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sz="2334">
                <a:solidFill>
                  <a:srgbClr val="FFDE59"/>
                </a:solidFill>
                <a:latin typeface="DM Sans Bold"/>
              </a:rPr>
              <a:t>giallo - la guardia va in una direzione casuale per 10 secondi.</a:t>
            </a:r>
          </a:p>
          <a:p>
            <a:pPr marL="503969" lvl="1" indent="-251984">
              <a:lnSpc>
                <a:spcPts val="3267"/>
              </a:lnSpc>
              <a:spcBef>
                <a:spcPct val="0"/>
              </a:spcBef>
              <a:buFont typeface="Arial"/>
              <a:buChar char="•"/>
            </a:pPr>
            <a:r>
              <a:rPr lang="en-US" sz="2334">
                <a:solidFill>
                  <a:srgbClr val="FF3131"/>
                </a:solidFill>
                <a:latin typeface="DM Sans Bold"/>
              </a:rPr>
              <a:t>rosso - la guardia va nella direzione dell’uscita (ottimizzazione ant colony).</a:t>
            </a:r>
          </a:p>
          <a:p>
            <a:pPr algn="ctr">
              <a:lnSpc>
                <a:spcPts val="3267"/>
              </a:lnSpc>
              <a:spcBef>
                <a:spcPct val="0"/>
              </a:spcBef>
            </a:pPr>
            <a:endParaRPr lang="en-US" sz="2334">
              <a:solidFill>
                <a:srgbClr val="FF3131"/>
              </a:solidFill>
              <a:latin typeface="DM Sans Bold"/>
            </a:endParaRPr>
          </a:p>
          <a:p>
            <a:pPr algn="ctr">
              <a:lnSpc>
                <a:spcPts val="3267"/>
              </a:lnSpc>
              <a:spcBef>
                <a:spcPct val="0"/>
              </a:spcBef>
            </a:pPr>
            <a:endParaRPr lang="en-US" sz="2334">
              <a:solidFill>
                <a:srgbClr val="FF3131"/>
              </a:solidFill>
              <a:latin typeface="DM Sans Bold"/>
            </a:endParaRPr>
          </a:p>
          <a:p>
            <a:pPr algn="ctr">
              <a:lnSpc>
                <a:spcPts val="3267"/>
              </a:lnSpc>
              <a:spcBef>
                <a:spcPct val="0"/>
              </a:spcBef>
            </a:pPr>
            <a:r>
              <a:rPr lang="en-US" sz="2334">
                <a:solidFill>
                  <a:srgbClr val="FFFFFF"/>
                </a:solidFill>
                <a:latin typeface="DM Sans Bold"/>
              </a:rPr>
              <a:t>Scrivere un programma per la gestione del gioco che permette di visualizzare, ad ogni inizio e fine partita, la classifica dei risultati migliori ottenuti, da tutti i giocatori, in tutte le partite (minore numero di passi per raggiungere l’uscita).</a:t>
            </a:r>
          </a:p>
          <a:p>
            <a:pPr algn="ctr">
              <a:lnSpc>
                <a:spcPts val="3267"/>
              </a:lnSpc>
              <a:spcBef>
                <a:spcPct val="0"/>
              </a:spcBef>
            </a:pPr>
            <a:endParaRPr lang="en-US" sz="2334">
              <a:solidFill>
                <a:srgbClr val="FFFFFF"/>
              </a:solidFill>
              <a:latin typeface="DM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054659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80"/>
              </a:lnSpc>
            </a:pPr>
            <a:r>
              <a:rPr lang="en-US" sz="6400">
                <a:solidFill>
                  <a:srgbClr val="5034C4"/>
                </a:solidFill>
                <a:latin typeface="DM Sans Bold"/>
              </a:rPr>
              <a:t>Pattern usati</a:t>
            </a:r>
          </a:p>
        </p:txBody>
      </p:sp>
      <p:sp>
        <p:nvSpPr>
          <p:cNvPr id="3" name="AutoShape 3"/>
          <p:cNvSpPr/>
          <p:nvPr/>
        </p:nvSpPr>
        <p:spPr>
          <a:xfrm>
            <a:off x="-171459" y="5315114"/>
            <a:ext cx="18578615" cy="5211459"/>
          </a:xfrm>
          <a:prstGeom prst="rect">
            <a:avLst/>
          </a:prstGeom>
          <a:solidFill>
            <a:srgbClr val="5034C4">
              <a:alpha val="4706"/>
            </a:srgbClr>
          </a:solid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1028700" y="3061177"/>
            <a:ext cx="4925993" cy="5009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732" lvl="1" indent="-379366">
              <a:lnSpc>
                <a:spcPts val="4919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DM Sans Bold"/>
              </a:rPr>
              <a:t>Factory Method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endParaRPr lang="en-US" sz="3514">
              <a:solidFill>
                <a:srgbClr val="000000"/>
              </a:solidFill>
              <a:latin typeface="DM Sans Bold"/>
            </a:endParaRPr>
          </a:p>
          <a:p>
            <a:pPr marL="758732" lvl="1" indent="-379366">
              <a:lnSpc>
                <a:spcPts val="4919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DM Sans Bold"/>
              </a:rPr>
              <a:t>Observer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endParaRPr lang="en-US" sz="3514">
              <a:solidFill>
                <a:srgbClr val="000000"/>
              </a:solidFill>
              <a:latin typeface="DM Sans Bold"/>
            </a:endParaRPr>
          </a:p>
          <a:p>
            <a:pPr marL="758732" lvl="1" indent="-379366">
              <a:lnSpc>
                <a:spcPts val="4919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DM Sans Bold"/>
              </a:rPr>
              <a:t>Command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endParaRPr lang="en-US" sz="3514">
              <a:solidFill>
                <a:srgbClr val="000000"/>
              </a:solidFill>
              <a:latin typeface="DM Sans Bold"/>
            </a:endParaRPr>
          </a:p>
          <a:p>
            <a:pPr marL="758732" lvl="1" indent="-379366">
              <a:lnSpc>
                <a:spcPts val="4919"/>
              </a:lnSpc>
              <a:spcBef>
                <a:spcPct val="0"/>
              </a:spcBef>
              <a:buFont typeface="Arial"/>
              <a:buChar char="•"/>
            </a:pPr>
            <a:r>
              <a:rPr lang="en-US" sz="3514">
                <a:solidFill>
                  <a:srgbClr val="000000"/>
                </a:solidFill>
                <a:latin typeface="DM Sans Bold"/>
              </a:rPr>
              <a:t>Strategy</a:t>
            </a:r>
          </a:p>
          <a:p>
            <a:pPr algn="ctr">
              <a:lnSpc>
                <a:spcPts val="4919"/>
              </a:lnSpc>
              <a:spcBef>
                <a:spcPct val="0"/>
              </a:spcBef>
            </a:pPr>
            <a:endParaRPr lang="en-US" sz="3514">
              <a:solidFill>
                <a:srgbClr val="000000"/>
              </a:solidFill>
              <a:latin typeface="DM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bianco&#10;&#10;Descrizione generata automaticamente">
            <a:extLst>
              <a:ext uri="{FF2B5EF4-FFF2-40B4-BE49-F238E27FC236}">
                <a16:creationId xmlns:a16="http://schemas.microsoft.com/office/drawing/2014/main" id="{48538BAB-C2C6-92B0-0485-9F8D72F36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0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bianco&#10;&#10;Descrizione generata automaticamente">
            <a:extLst>
              <a:ext uri="{FF2B5EF4-FFF2-40B4-BE49-F238E27FC236}">
                <a16:creationId xmlns:a16="http://schemas.microsoft.com/office/drawing/2014/main" id="{666AF645-B971-2B18-6F50-BA42A3685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0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bianco&#10;&#10;Descrizione generata automaticamente">
            <a:extLst>
              <a:ext uri="{FF2B5EF4-FFF2-40B4-BE49-F238E27FC236}">
                <a16:creationId xmlns:a16="http://schemas.microsoft.com/office/drawing/2014/main" id="{417F6DD9-41F6-C9DE-0AD9-28BEE22E6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bianco&#10;&#10;Descrizione generata automaticamente">
            <a:extLst>
              <a:ext uri="{FF2B5EF4-FFF2-40B4-BE49-F238E27FC236}">
                <a16:creationId xmlns:a16="http://schemas.microsoft.com/office/drawing/2014/main" id="{CAF4B12F-E167-1EDE-7000-521B2AC83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5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bianco&#10;&#10;Descrizione generata automaticamente">
            <a:extLst>
              <a:ext uri="{FF2B5EF4-FFF2-40B4-BE49-F238E27FC236}">
                <a16:creationId xmlns:a16="http://schemas.microsoft.com/office/drawing/2014/main" id="{967837AB-3049-2E28-1ABA-864225AC4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3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79617" y="2376905"/>
            <a:ext cx="8128766" cy="4769772"/>
          </a:xfrm>
          <a:custGeom>
            <a:avLst/>
            <a:gdLst/>
            <a:ahLst/>
            <a:cxnLst/>
            <a:rect l="l" t="t" r="r" b="b"/>
            <a:pathLst>
              <a:path w="8128766" h="4769772">
                <a:moveTo>
                  <a:pt x="0" y="0"/>
                </a:moveTo>
                <a:lnTo>
                  <a:pt x="8128766" y="0"/>
                </a:lnTo>
                <a:lnTo>
                  <a:pt x="8128766" y="4769772"/>
                </a:lnTo>
                <a:lnTo>
                  <a:pt x="0" y="4769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028700" y="542925"/>
            <a:ext cx="13653657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9"/>
              </a:lnSpc>
            </a:pPr>
            <a:r>
              <a:rPr lang="en-US" sz="6399">
                <a:solidFill>
                  <a:srgbClr val="5034C4"/>
                </a:solidFill>
                <a:latin typeface="DM Sans Bold"/>
              </a:rPr>
              <a:t>Ranking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8485861"/>
            <a:ext cx="18288000" cy="122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3514">
                <a:solidFill>
                  <a:srgbClr val="000000"/>
                </a:solidFill>
                <a:latin typeface="DM Sans Bold"/>
              </a:rPr>
              <a:t>Qui vengono visualizzati i punteggi associati al Nome e Cognome degli utenti, che sono riusciti a completare il gioco.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33579" y="1120949"/>
            <a:ext cx="9186705" cy="8045101"/>
            <a:chOff x="0" y="0"/>
            <a:chExt cx="3107602" cy="2721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7602" cy="2721429"/>
            </a:xfrm>
            <a:custGeom>
              <a:avLst/>
              <a:gdLst/>
              <a:ahLst/>
              <a:cxnLst/>
              <a:rect l="l" t="t" r="r" b="b"/>
              <a:pathLst>
                <a:path w="3107602" h="2721429">
                  <a:moveTo>
                    <a:pt x="2983142" y="2721429"/>
                  </a:moveTo>
                  <a:lnTo>
                    <a:pt x="124460" y="2721429"/>
                  </a:lnTo>
                  <a:cubicBezTo>
                    <a:pt x="55880" y="2721429"/>
                    <a:pt x="0" y="2665549"/>
                    <a:pt x="0" y="259696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983142" y="0"/>
                  </a:lnTo>
                  <a:cubicBezTo>
                    <a:pt x="3051722" y="0"/>
                    <a:pt x="3107602" y="55880"/>
                    <a:pt x="3107602" y="124460"/>
                  </a:cubicBezTo>
                  <a:lnTo>
                    <a:pt x="3107602" y="2596969"/>
                  </a:lnTo>
                  <a:cubicBezTo>
                    <a:pt x="3107602" y="2665549"/>
                    <a:pt x="3051722" y="2721429"/>
                    <a:pt x="2983142" y="2721429"/>
                  </a:cubicBezTo>
                  <a:close/>
                </a:path>
              </a:pathLst>
            </a:custGeom>
            <a:solidFill>
              <a:srgbClr val="5034C4">
                <a:alpha val="4706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" name="Freeform 4"/>
          <p:cNvSpPr/>
          <p:nvPr/>
        </p:nvSpPr>
        <p:spPr>
          <a:xfrm>
            <a:off x="5022720" y="840617"/>
            <a:ext cx="15283840" cy="8605766"/>
          </a:xfrm>
          <a:custGeom>
            <a:avLst/>
            <a:gdLst/>
            <a:ahLst/>
            <a:cxnLst/>
            <a:rect l="l" t="t" r="r" b="b"/>
            <a:pathLst>
              <a:path w="15283840" h="8605766">
                <a:moveTo>
                  <a:pt x="0" y="0"/>
                </a:moveTo>
                <a:lnTo>
                  <a:pt x="15283840" y="0"/>
                </a:lnTo>
                <a:lnTo>
                  <a:pt x="15283840" y="8605766"/>
                </a:lnTo>
                <a:lnTo>
                  <a:pt x="0" y="860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193211" y="1254299"/>
            <a:ext cx="5578317" cy="88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9"/>
              </a:lnSpc>
            </a:pPr>
            <a:r>
              <a:rPr lang="en-US" sz="6699" spc="-66">
                <a:solidFill>
                  <a:srgbClr val="5E17EB"/>
                </a:solidFill>
                <a:latin typeface="DM Sans Bold"/>
              </a:rPr>
              <a:t>Mappa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3211" y="3216385"/>
            <a:ext cx="5786485" cy="5559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sz="3514">
                <a:solidFill>
                  <a:srgbClr val="000000"/>
                </a:solidFill>
                <a:latin typeface="DM Sans"/>
              </a:rPr>
              <a:t>Questo è la mappa utilizzata nel gioco. Randomicamente sono generati dei pannelli che se calpestati dal ladro, in base al loro colore, obbligheranno la guardia a muoversi in un determinato modo.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351</Words>
  <Application>Microsoft Office PowerPoint</Application>
  <PresentationFormat>Personalizzato</PresentationFormat>
  <Paragraphs>37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Calibri</vt:lpstr>
      <vt:lpstr>DM Sans Bold</vt:lpstr>
      <vt:lpstr>Arial</vt:lpstr>
      <vt:lpstr>DM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Programmazione 3</dc:title>
  <cp:lastModifiedBy>Francesco Esposito</cp:lastModifiedBy>
  <cp:revision>3</cp:revision>
  <dcterms:created xsi:type="dcterms:W3CDTF">2006-08-16T00:00:00Z</dcterms:created>
  <dcterms:modified xsi:type="dcterms:W3CDTF">2024-03-03T15:31:56Z</dcterms:modified>
  <dc:identifier>DAF-Lh3khYs</dc:identifier>
</cp:coreProperties>
</file>